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FFFFFF"/>
                </a:solidFill>
              </a:defRPr>
            </a:pPr>
            <a:r>
              <a:t>SHIELD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94A3B8"/>
                </a:solidFill>
              </a:defRPr>
            </a:pPr>
            <a:r>
              <a:t>Multi-channel intelligent phishing</a:t>
            </a:r>
            <a:br/>
            <a:r>
              <a:t>detection with explainable risk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38BDF8"/>
                </a:solidFill>
              </a:defRPr>
            </a:pPr>
            <a:r>
              <a:t>Tomorrow's demo strategy</a:t>
            </a:r>
            <a:br/>
            <a:r>
              <a:t>Select single live content, explain the</a:t>
            </a:r>
            <a:br/>
            <a:r>
              <a:t>threat, and show exactly how the decision was</a:t>
            </a:r>
            <a:br/>
            <a:r>
              <a:t>computed.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0"/>
          </a:xfrm>
        </p:spPr>
        <p:txBody>
          <a:bodyPr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problem is not just the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</a:defRPr>
            </a:pPr>
            <a:r>
              <a:t>Phishing follows the user across channels.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C8D2E1"/>
                </a:solidFill>
              </a:defRPr>
            </a:pPr>
            <a:r>
              <a:t>A user may encounter the same social engineering attack as a message,</a:t>
            </a:r>
            <a:br/>
            <a:r>
              <a:t>email, notification, or browser link. The hard part is recognizing the</a:t>
            </a:r>
            <a:br/>
            <a:r>
              <a:t>pattern before the user 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1828800" cy="914400"/>
          </a:xfrm>
          <a:prstGeom prst="roundRect">
            <a:avLst/>
          </a:prstGeom>
          <a:solidFill>
            <a:srgbClr val="064E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ANDROID NOTIFICATIONS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3200400"/>
            <a:ext cx="1828800" cy="914400"/>
          </a:xfrm>
          <a:prstGeom prst="roundRect">
            <a:avLst/>
          </a:prstGeom>
          <a:solidFill>
            <a:srgbClr val="0C4A6E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CHROME / WEB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200400"/>
            <a:ext cx="1828800" cy="914400"/>
          </a:xfrm>
          <a:prstGeom prst="roundRect">
            <a:avLst/>
          </a:prstGeom>
          <a:solidFill>
            <a:srgbClr val="7F1D1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EMAIL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3200400"/>
            <a:ext cx="1828800" cy="914400"/>
          </a:xfrm>
          <a:prstGeom prst="roundRect">
            <a:avLst/>
          </a:prstGeom>
          <a:solidFill>
            <a:srgbClr val="451A03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SMS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C8D2E1"/>
                </a:solidFill>
              </a:defRPr>
            </a:pPr>
            <a:r>
              <a:t>Human weakness is the common attack surface.</a:t>
            </a:r>
            <a:br/>
            <a:r>
              <a:t>The prototype therefore focuses on automated, explainable detection instead of</a:t>
            </a:r>
            <a:br/>
            <a:r>
              <a:t>forcing the user to manually inspect every message.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0"/>
          </a:xfrm>
        </p:spPr>
        <p:txBody>
          <a:bodyPr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One detection core, multiple input edges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28600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ANDROID NOTIFICATIONS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228600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CHROME / WEB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023360"/>
            <a:ext cx="228600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EMAIL /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828800"/>
            <a:ext cx="3200400" cy="29260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FASTAPI CENTRAL BACKEND</a:t>
            </a:r>
            <a:br/>
            <a:br/>
            <a:r>
              <a:t>- TEXT ENGINE</a:t>
            </a:r>
            <a:br/>
            <a:r>
              <a:t>- URL ENGINE</a:t>
            </a:r>
            <a:br/>
            <a:r>
              <a:t>- SENDER /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926080"/>
            <a:ext cx="1828800" cy="914400"/>
          </a:xfrm>
          <a:prstGeom prst="roundRect">
            <a:avLst/>
          </a:prstGeom>
          <a:solidFill>
            <a:srgbClr val="991B1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0F8FF"/>
                </a:solidFill>
              </a:defRPr>
            </a:pPr>
            <a:r>
              <a:t>CRITICAL</a:t>
            </a:r>
            <a:br/>
            <a:r>
              <a:t>92 /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FFFFF"/>
                </a:solidFill>
              </a:defRPr>
            </a:pPr>
            <a:r>
              <a:t>Design principle: Ingest once -&gt; analyze consistently -&gt; explain the decision.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0"/>
          </a:xfrm>
        </p:spPr>
        <p:txBody>
          <a:bodyPr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End-to-end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38BDF8"/>
                </a:solidFill>
              </a:defRPr>
            </a:pPr>
            <a:r>
              <a:t>INPUT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38BDF8"/>
                </a:solidFill>
              </a:defRPr>
            </a:pPr>
            <a:r>
              <a:t>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38BDF8"/>
                </a:solidFill>
              </a:defRPr>
            </a:pPr>
            <a:r>
              <a:t>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59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38BDF8"/>
                </a:solidFill>
              </a:defRPr>
            </a:pPr>
            <a:r>
              <a:t>VERDICT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92024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Android Notification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011680"/>
            <a:ext cx="192024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Text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011680"/>
            <a:ext cx="192024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TF-IDF + Logistic Regression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011680"/>
            <a:ext cx="192024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Explainable Verdict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26080"/>
            <a:ext cx="192024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Chrome / DOM Web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926080"/>
            <a:ext cx="192024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URL Extraction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926080"/>
            <a:ext cx="192024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URL Heuristics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926080"/>
            <a:ext cx="192024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SAFE / 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C8D2E1"/>
                </a:solidFill>
              </a:defRPr>
            </a:pPr>
            <a:r>
              <a:t>The same verdict context is used by every client edge.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0"/>
          </a:xfrm>
        </p:spPr>
        <p:txBody>
          <a:bodyPr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What the prototype can receive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560320" cy="2286000"/>
          </a:xfrm>
          <a:prstGeom prst="roundRect">
            <a:avLst/>
          </a:prstGeom>
          <a:solidFill>
            <a:srgbClr val="064E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ANDROID NOTIFICATIONS</a:t>
            </a:r>
            <a:br/>
            <a:br/>
            <a:r>
              <a:t>Receives notification events via</a:t>
            </a:r>
            <a:br/>
            <a:r>
              <a:t>NotificationListenerService. The message</a:t>
            </a:r>
            <a:br/>
            <a:r>
              <a:t>is extracted securely without direct app</a:t>
            </a:r>
            <a:br/>
            <a:r>
              <a:t>database access.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828800"/>
            <a:ext cx="2560320" cy="2286000"/>
          </a:xfrm>
          <a:prstGeom prst="roundRect">
            <a:avLst/>
          </a:prstGeom>
          <a:solidFill>
            <a:srgbClr val="0C4A6E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CHROME / WEB</a:t>
            </a:r>
            <a:br/>
            <a:br/>
            <a:r>
              <a:t>A browser extension observing</a:t>
            </a:r>
            <a:br/>
            <a:r>
              <a:t>DOM elements. Extracts visible text</a:t>
            </a:r>
            <a:br/>
            <a:r>
              <a:t>and links on suspicious pages.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25603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EMAIL / GMAIL API</a:t>
            </a:r>
            <a:br/>
            <a:br/>
            <a:r>
              <a:t>Authorized OAuth access to messages.</a:t>
            </a:r>
            <a:br/>
            <a:r>
              <a:t>The payload structure remains the</a:t>
            </a:r>
            <a:br/>
            <a:r>
              <a:t>same for the risk engine.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0"/>
          </a:xfrm>
        </p:spPr>
        <p:txBody>
          <a:bodyPr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detection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2743200"/>
            <a:ext cx="128016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8FF"/>
                </a:solidFill>
              </a:defRPr>
            </a:pPr>
            <a:r>
              <a:t>RAW PAYLOAD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017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2743200"/>
            <a:ext cx="128016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8FF"/>
                </a:solidFill>
              </a:defRPr>
            </a:pPr>
            <a:r>
              <a:t>EXTRACT URLS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017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743200"/>
            <a:ext cx="128016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8FF"/>
                </a:solidFill>
              </a:defRPr>
            </a:pPr>
            <a:r>
              <a:t>ANALYZE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017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743200"/>
            <a:ext cx="128016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8FF"/>
                </a:solidFill>
              </a:defRPr>
            </a:pPr>
            <a:r>
              <a:t>ML + HEURISTICS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017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743200"/>
            <a:ext cx="128016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8FF"/>
                </a:solidFill>
              </a:defRPr>
            </a:pPr>
            <a:r>
              <a:t>RISK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017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743200"/>
            <a:ext cx="128016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0F8FF"/>
                </a:solidFill>
              </a:defRPr>
            </a:pPr>
            <a:r>
              <a:t>EXPLAIN +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C8D2E1"/>
                </a:solidFill>
              </a:defRPr>
            </a:pPr>
            <a:r>
              <a:t>Why this matters: A single suspicious keyword should not decide the case. The</a:t>
            </a:r>
            <a:br/>
            <a:r>
              <a:t>system combines independent signals so the final verdict is based on a richer</a:t>
            </a:r>
            <a:br/>
            <a:r>
              <a:t>threat pattern.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0"/>
          </a:xfrm>
        </p:spPr>
        <p:txBody>
          <a:bodyPr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Machine learning: a lightweight, explainable baseline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65760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Raw Text</a:t>
            </a:r>
            <a:br/>
            <a:r>
              <a:t>↓</a:t>
            </a:r>
            <a:br/>
            <a:r>
              <a:t>TF-IDF Vectorizer</a:t>
            </a:r>
            <a:br/>
            <a:r>
              <a:t>↓</a:t>
            </a:r>
            <a:br/>
            <a:r>
              <a:t>Logistic Regression</a:t>
            </a:r>
            <a:br/>
            <a:r>
              <a:t>↓</a:t>
            </a:r>
            <a:br/>
            <a:r>
              <a:t>Probability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38BDF8"/>
                </a:solidFill>
              </a:defRPr>
            </a:pPr>
            <a:r>
              <a:t>WHY TF-IDF?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1031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C8D2E1"/>
                </a:solidFill>
              </a:defRPr>
            </a:pPr>
            <a:r>
              <a:t>Transforms text into a numerical feature representation without requiring a massive deep learning framework.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38BDF8"/>
                </a:solidFill>
              </a:defRPr>
            </a:pPr>
            <a:r>
              <a:t>WHY LOGISTIC REGRESSION?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1089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C8D2E1"/>
                </a:solidFill>
              </a:defRPr>
            </a:pPr>
            <a:r>
              <a:t>Provides a fast, CPU-friendly probability score. Perfect for local/prototype environments.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840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38BDF8"/>
                </a:solidFill>
              </a:defRPr>
            </a:pPr>
            <a:r>
              <a:t>EVALUATION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1148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C8D2E1"/>
                </a:solidFill>
              </a:defRPr>
            </a:pPr>
            <a:r>
              <a:t>Machine learning provides the classification score, but it is one signal in the final risk engine. This prevents false positives on safe messages.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0"/>
          </a:xfrm>
        </p:spPr>
        <p:txBody>
          <a:bodyPr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URL security is a second line of defense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822960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0F8FF"/>
                </a:solidFill>
              </a:defRPr>
            </a:pPr>
            <a:r>
              <a:t>https://secure-bank-login-example.com/verify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0"/>
            <a:ext cx="192024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0F8FF"/>
                </a:solidFill>
              </a:defRPr>
            </a:pPr>
            <a:r>
              <a:t>HTTPS STATUS</a:t>
            </a:r>
            <a:br/>
            <a:r>
              <a:t>Checks TLS/SSL presence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3200400"/>
            <a:ext cx="192024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0F8FF"/>
                </a:solidFill>
              </a:defRPr>
            </a:pPr>
            <a:r>
              <a:t>DOMAIN STRUCTURE</a:t>
            </a:r>
            <a:br/>
            <a:r>
              <a:t>Length / Hyphens / Subdomains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200400"/>
            <a:ext cx="192024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0F8FF"/>
                </a:solidFill>
              </a:defRPr>
            </a:pPr>
            <a:r>
              <a:t>PATH</a:t>
            </a:r>
            <a:br/>
            <a:r>
              <a:t>Login, verify, credential terms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200400"/>
            <a:ext cx="192024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0F8FF"/>
                </a:solidFill>
              </a:defRPr>
            </a:pPr>
            <a:r>
              <a:t>SUSPICIOUS</a:t>
            </a:r>
            <a:br/>
            <a:r>
              <a:t>Credential-oriented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94A3B8"/>
                </a:solidFill>
              </a:defRPr>
            </a:pPr>
            <a:r>
              <a:t>Important: A safe domain does not mean safe intent if it belongs to a known host. The engine combines URL and Text signals.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0"/>
          </a:xfrm>
        </p:spPr>
        <p:txBody>
          <a:bodyPr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From independent signals to one risk score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2286000" cy="22860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0F8FF"/>
                </a:solidFill>
              </a:defRPr>
            </a:pPr>
            <a:r>
              <a:t>91</a:t>
            </a:r>
            <a:br/>
            <a:r>
              <a:t>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38BDF8"/>
                </a:solidFill>
              </a:defRPr>
            </a:pPr>
            <a:r>
              <a:t>HYBRID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743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C8D2E1"/>
                </a:solidFill>
              </a:defRPr>
            </a:pPr>
            <a:r>
              <a:t>Text ML Probability .......................... 0.91</a:t>
            </a:r>
            <a:br/>
            <a:br/>
            <a:r>
              <a:t>URL risk signals ............................... High</a:t>
            </a:r>
            <a:br/>
            <a:br/>
            <a:r>
              <a:t>Sender/Context signals ................... Unknown</a:t>
            </a:r>
            <a:br/>
            <a:br/>
            <a:r>
              <a:t>Final normalized score ................... 91 /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C8D2E1"/>
                </a:solidFill>
              </a:defRPr>
            </a:pPr>
            <a:r>
              <a:t>Design rule: Avoid double-counting the same signal and cap the score at 100.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0"/>
          </a:xfrm>
        </p:spPr>
        <p:txBody>
          <a:bodyPr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Explainability turns a classifier into a security tool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457200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CRITICAL</a:t>
            </a:r>
            <a:br/>
            <a:r>
              <a:t>91 / 100</a:t>
            </a:r>
            <a:br/>
            <a:br/>
            <a:r>
              <a:t>✓ Urgent language</a:t>
            </a:r>
            <a:br/>
            <a:r>
              <a:t>✓ Financial context</a:t>
            </a:r>
            <a:br/>
            <a:r>
              <a:t>✓ Account suspension threat</a:t>
            </a:r>
            <a:br/>
            <a:r>
              <a:t>✓ Credential request</a:t>
            </a:r>
            <a:br/>
            <a:r>
              <a:t>✓ Suspicious URL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828800"/>
            <a:ext cx="3200400" cy="1828800"/>
          </a:xfrm>
          <a:prstGeom prst="roundRect">
            <a:avLst/>
          </a:prstGeom>
          <a:solidFill>
            <a:srgbClr val="0C4A6E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0F8FF"/>
                </a:solidFill>
              </a:defRPr>
            </a:pPr>
            <a:r>
              <a:t>WHY EXPLAINABILITY?</a:t>
            </a:r>
            <a:br/>
            <a:br/>
            <a:r>
              <a:t>The user and the system can see</a:t>
            </a:r>
            <a:br/>
            <a:r>
              <a:t>exactly which features contributed to the</a:t>
            </a:r>
            <a:br/>
            <a:r>
              <a:t>verdict, instead of accepting the</a:t>
            </a:r>
            <a:br/>
            <a:r>
              <a:t>decision from a black-box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4114800"/>
            <a:ext cx="3200400" cy="914400"/>
          </a:xfrm>
          <a:prstGeom prst="roundRect">
            <a:avLst/>
          </a:prstGeom>
          <a:solidFill>
            <a:srgbClr val="991B1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8FF"/>
                </a:solidFill>
              </a:defRPr>
            </a:pPr>
            <a:r>
              <a:t>RECOMMENDED ACTION</a:t>
            </a:r>
            <a:br/>
            <a:r>
              <a:t>DO NOT OPEN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0"/>
          </a:xfrm>
        </p:spPr>
        <p:txBody>
          <a:bodyPr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Browser safety net: same brain, different edge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1148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0F8FF"/>
                </a:solidFill>
              </a:defRPr>
            </a:pPr>
            <a:r>
              <a:t>Phishing Shield AI (Chrome Extension)</a:t>
            </a:r>
            <a:br/>
            <a:br/>
            <a:r>
              <a:t>🚨 SECURITY ALERT</a:t>
            </a:r>
            <a:br/>
            <a:r>
              <a:t>Your account has been suspended. Verify:</a:t>
            </a:r>
            <a:br/>
            <a:r>
              <a:t>https://secure-bank-login-example.com/verify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2286000"/>
            <a:ext cx="1828800" cy="1828800"/>
          </a:xfrm>
          <a:prstGeom prst="roundRect">
            <a:avLst/>
          </a:prstGeom>
          <a:solidFill>
            <a:srgbClr val="991B1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0F8FF"/>
                </a:solidFill>
              </a:defRPr>
            </a:pPr>
            <a:r>
              <a:t>CRITICAL</a:t>
            </a:r>
            <a:br/>
            <a:r>
              <a:t>91 /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C8D2E1"/>
                </a:solidFill>
              </a:defRPr>
            </a:pPr>
            <a:r>
              <a:t>For the prototype, use a controlled demo page for a reliable live recording.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0"/>
          </a:xfrm>
        </p:spPr>
        <p:txBody>
          <a:bodyPr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Android: notification-level ingestion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657600" cy="5486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Notification 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560320"/>
            <a:ext cx="3657600" cy="5486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Listener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3657600" cy="5486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Payload extraction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023360"/>
            <a:ext cx="3657600" cy="5486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C8D2E1"/>
                </a:solidFill>
              </a:defRPr>
            </a:pPr>
            <a:r>
              <a:t>Prototype boundary: notification context, not decrypted app databases.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0"/>
          </a:xfrm>
        </p:spPr>
        <p:txBody>
          <a:bodyPr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Technology stack — what each layer is doing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56032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0F8FF"/>
                </a:solidFill>
              </a:defRPr>
            </a:pPr>
            <a:r>
              <a:t>FRONTEND</a:t>
            </a:r>
            <a:br/>
            <a:br/>
            <a:r>
              <a:t>- React</a:t>
            </a:r>
            <a:br/>
            <a:r>
              <a:t>- Vite</a:t>
            </a:r>
            <a:br/>
            <a:r>
              <a:t>- Tailwind CSS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828800"/>
            <a:ext cx="256032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0F8FF"/>
                </a:solidFill>
              </a:defRPr>
            </a:pPr>
            <a:r>
              <a:t>BACKEND</a:t>
            </a:r>
            <a:br/>
            <a:br/>
            <a:r>
              <a:t>- Python</a:t>
            </a:r>
            <a:br/>
            <a:r>
              <a:t>- FastAPI</a:t>
            </a:r>
            <a:br/>
            <a:r>
              <a:t>- Pydantic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828800"/>
            <a:ext cx="256032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0F8FF"/>
                </a:solidFill>
              </a:defRPr>
            </a:pPr>
            <a:r>
              <a:t>ML</a:t>
            </a:r>
            <a:br/>
            <a:br/>
            <a:r>
              <a:t>- scikit-learn</a:t>
            </a:r>
            <a:br/>
            <a:r>
              <a:t>- TF-IDF</a:t>
            </a:r>
            <a:br/>
            <a:r>
              <a:t>- Logistic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256032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0F8FF"/>
                </a:solidFill>
              </a:defRPr>
            </a:pPr>
            <a:r>
              <a:t>BROWSER</a:t>
            </a:r>
            <a:br/>
            <a:br/>
            <a:r>
              <a:t>- Chrome Extension</a:t>
            </a:r>
            <a:br/>
            <a:r>
              <a:t>- Manifest V3</a:t>
            </a:r>
            <a:br/>
            <a:r>
              <a:t>- Content Scripts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657600"/>
            <a:ext cx="256032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0F8FF"/>
                </a:solidFill>
              </a:defRPr>
            </a:pPr>
            <a:r>
              <a:t>ANDROID</a:t>
            </a:r>
            <a:br/>
            <a:br/>
            <a:r>
              <a:t>- Android SDK</a:t>
            </a:r>
            <a:br/>
            <a:r>
              <a:t>- NotificationListenerService</a:t>
            </a:r>
            <a:br/>
            <a:r>
              <a:t>- REST 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3657600"/>
            <a:ext cx="256032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0F8FF"/>
                </a:solidFill>
              </a:defRPr>
            </a:pPr>
            <a:r>
              <a:t>DATA</a:t>
            </a:r>
            <a:br/>
            <a:br/>
            <a:r>
              <a:t>- SQLite</a:t>
            </a:r>
            <a:br/>
            <a:r>
              <a:t>- JSON</a:t>
            </a:r>
            <a:br/>
            <a:r>
              <a:t>- CSV dataset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0"/>
          </a:xfrm>
        </p:spPr>
        <p:txBody>
          <a:bodyPr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Protocols and standards — where the data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38BDF8"/>
                </a:solidFill>
              </a:defRPr>
            </a:pPr>
            <a:r>
              <a:t>HTTP /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C8D2E1"/>
                </a:solidFill>
              </a:defRPr>
            </a:pPr>
            <a:r>
              <a:t>Client -&gt; FastAPI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38BDF8"/>
                </a:solidFill>
              </a:defRPr>
            </a:pPr>
            <a:r>
              <a:t>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C8D2E1"/>
                </a:solidFill>
              </a:defRPr>
            </a:pPr>
            <a:r>
              <a:t>Payload serialization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38BDF8"/>
                </a:solidFill>
              </a:defRPr>
            </a:pPr>
            <a:r>
              <a:t>HTTPS / TLS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C8D2E1"/>
                </a:solidFill>
              </a:defRPr>
            </a:pPr>
            <a:r>
              <a:t>Encrypt production transport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38BDF8"/>
                </a:solidFill>
              </a:defRPr>
            </a:pPr>
            <a:r>
              <a:t>OAuth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C8D2E1"/>
                </a:solidFill>
              </a:defRPr>
            </a:pPr>
            <a:r>
              <a:t>Authorized Gmail API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38BDF8"/>
                </a:solidFill>
              </a:defRPr>
            </a:pPr>
            <a:r>
              <a:t>DNS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C8D2E1"/>
                </a:solidFill>
              </a:defRPr>
            </a:pPr>
            <a:r>
              <a:t>Resolves domain records for URL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C8D2E1"/>
                </a:solidFill>
              </a:defRPr>
            </a:pPr>
            <a:r>
              <a:t>Current prototype uses HTTP/REST + JSON for local execution. The real production path requires HTTPS/TLS.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0"/>
          </a:xfrm>
        </p:spPr>
        <p:txBody>
          <a:bodyPr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Security and privacy are part of the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8229600" cy="6400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0F8FF"/>
                </a:solidFill>
              </a:defRPr>
            </a:pPr>
            <a:r>
              <a:t>Least privilege</a:t>
            </a:r>
            <a:br/>
            <a:r>
              <a:t>The system does not require root access or decryption of app databases.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468880"/>
            <a:ext cx="8229600" cy="6400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0F8FF"/>
                </a:solidFill>
              </a:defRPr>
            </a:pPr>
            <a:r>
              <a:t>No secrets in code</a:t>
            </a:r>
            <a:br/>
            <a:r>
              <a:t>Environment variables manage API keys.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6400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0F8FF"/>
                </a:solidFill>
              </a:defRPr>
            </a:pPr>
            <a:r>
              <a:t>Minimal retention</a:t>
            </a:r>
            <a:br/>
            <a:r>
              <a:t>Message content is analyzed and scored. No long-term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8229600" cy="6400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0F8FF"/>
                </a:solidFill>
              </a:defRPr>
            </a:pPr>
            <a:r>
              <a:t>Transport security</a:t>
            </a:r>
            <a:br/>
            <a:r>
              <a:t>Production deployments encrypt all API payloads over HTTPS.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937760"/>
            <a:ext cx="8229600" cy="6400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0F8FF"/>
                </a:solidFill>
              </a:defRPr>
            </a:pPr>
            <a:r>
              <a:t>Client isolation</a:t>
            </a:r>
            <a:br/>
            <a:r>
              <a:t>Each endpoint integrates via standard schemas.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0"/>
          </a:xfrm>
        </p:spPr>
        <p:txBody>
          <a:bodyPr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What this prototype can and cannot claim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931920" cy="2286000"/>
          </a:xfrm>
          <a:prstGeom prst="roundRect">
            <a:avLst/>
          </a:prstGeom>
          <a:solidFill>
            <a:srgbClr val="064E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CAN DEMONSTRATE</a:t>
            </a:r>
            <a:br/>
            <a:br/>
            <a:r>
              <a:t>Real-time event stream analysis, heuristic detection, URL extraction, and explainable ML scoring.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828800"/>
            <a:ext cx="3931920" cy="2286000"/>
          </a:xfrm>
          <a:prstGeom prst="roundRect">
            <a:avLst/>
          </a:prstGeom>
          <a:solidFill>
            <a:srgbClr val="991B1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DOES NOT GUARANTEE</a:t>
            </a:r>
            <a:br/>
            <a:br/>
            <a:r>
              <a:t>Zero-day production accuracy, interception of encrypted traffic, or replacing commercial antivirus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FFFFFF"/>
                </a:solidFill>
              </a:defRPr>
            </a:pPr>
            <a:r>
              <a:t>Prototype ML baseline: Small synthetic dataset -&gt; useful proof of pipeline, not a production benchmark.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0"/>
          </a:xfrm>
        </p:spPr>
        <p:txBody>
          <a:bodyPr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Tomorrow's 3-minute live demonstration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8229600" cy="914400"/>
          </a:xfrm>
          <a:prstGeom prst="roundRect">
            <a:avLst/>
          </a:prstGeom>
          <a:solidFill>
            <a:srgbClr val="064E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SAFE MESSAGE</a:t>
            </a:r>
            <a:br/>
            <a:r>
              <a:t>'Hey, are you coming to college tomorrow?' -&gt; SAFE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8229600" cy="914400"/>
          </a:xfrm>
          <a:prstGeom prst="roundRect">
            <a:avLst/>
          </a:prstGeom>
          <a:solidFill>
            <a:srgbClr val="B45309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SUSPICIOUS</a:t>
            </a:r>
            <a:br/>
            <a:r>
              <a:t>'Account requires verification...' -&gt; SUSPICIOUS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023360"/>
            <a:ext cx="8229600" cy="914400"/>
          </a:xfrm>
          <a:prstGeom prst="roundRect">
            <a:avLst/>
          </a:prstGeom>
          <a:solidFill>
            <a:srgbClr val="991B1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BANK PHISHING</a:t>
            </a:r>
            <a:br/>
            <a:r>
              <a:t>'URGENT bank suspension. Verify at secure-bank-login.com' -&gt; 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38BDF8"/>
                </a:solidFill>
              </a:defRPr>
            </a:pPr>
            <a:r>
              <a:t>Live event flow: Payload -&gt; JSON -&gt; API -&gt; URL / ML / Text -&gt; Risk Engine -&gt; Dashboard Warning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0"/>
          </a:xfrm>
        </p:spPr>
        <p:txBody>
          <a:bodyPr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Roadmap: from prototype to production research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5603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NOW</a:t>
            </a:r>
            <a:br/>
            <a:br/>
            <a:r>
              <a:t>TF-IDF + Logistic Regression</a:t>
            </a:r>
            <a:br/>
            <a:r>
              <a:t>URL Heuristics</a:t>
            </a:r>
            <a:br/>
            <a:r>
              <a:t>Event-Driven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828800"/>
            <a:ext cx="2560320" cy="2286000"/>
          </a:xfrm>
          <a:prstGeom prst="roundRect">
            <a:avLst/>
          </a:prstGeom>
          <a:solidFill>
            <a:srgbClr val="0C4A6E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NEXT</a:t>
            </a:r>
            <a:br/>
            <a:br/>
            <a:r>
              <a:t>Transformer NLP (BERT)</a:t>
            </a:r>
            <a:br/>
            <a:r>
              <a:t>Larger labelled datasets</a:t>
            </a:r>
            <a:br/>
            <a:r>
              <a:t>Threat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2560320" cy="2286000"/>
          </a:xfrm>
          <a:prstGeom prst="roundRect">
            <a:avLst/>
          </a:prstGeom>
          <a:solidFill>
            <a:srgbClr val="581C8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0F8FF"/>
                </a:solidFill>
              </a:defRPr>
            </a:pPr>
            <a:r>
              <a:t>LATER</a:t>
            </a:r>
            <a:br/>
            <a:br/>
            <a:r>
              <a:t>Graph-based URL relationships</a:t>
            </a:r>
            <a:br/>
            <a:r>
              <a:t>Federated learning</a:t>
            </a:r>
            <a:br/>
            <a:r>
              <a:t>Enterprise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C8D2E1"/>
                </a:solidFill>
              </a:defRPr>
            </a:pPr>
            <a:r>
              <a:t>The research question is answered: How do we build lightweight, explainable detection that balances accuracy, privacy and latency at the edge?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