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828800"/>
            <a:ext cx="73152" cy="1828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rial"/>
              </a:defRPr>
            </a:pPr>
            <a:r>
              <a:t>PHISHING SHIELD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Arial"/>
              </a:defRPr>
            </a:pPr>
            <a:r>
              <a:t>Real-Time AI-Powered Phishing Detection</a:t>
            </a:r>
            <a:br/>
            <a:r>
              <a:t>&amp; Explainable Cybersecurity Risk Scoring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840480"/>
            <a:ext cx="731520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🌐 Chrome Extension    🖥️ Web Dashboard    🔬 4 ML Models    📊 Explainable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rial"/>
              </a:defRPr>
            </a:pPr>
            <a:r>
              <a:t>B.Tech CSE Cybersecurity — Final Year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t>Phishing is not just an email problem — it follows users across every channel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914400"/>
          </a:xfrm>
          <a:prstGeom prst="roundRect">
            <a:avLst/>
          </a:prstGeom>
          <a:solidFill>
            <a:srgbClr val="991B1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300" b="0">
                <a:solidFill>
                  <a:srgbClr val="C8D2E1"/>
                </a:solidFill>
              </a:defRPr>
            </a:pPr>
            <a:r>
              <a:t>📧 Email</a:t>
            </a:r>
            <a:br/>
            <a:r>
              <a:t>Spoofed sender names, fake bank alerts, credential-harvesting links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8046720" cy="914400"/>
          </a:xfrm>
          <a:prstGeom prst="roundRect">
            <a:avLst/>
          </a:prstGeom>
          <a:solidFill>
            <a:srgbClr val="B45309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300" b="0">
                <a:solidFill>
                  <a:srgbClr val="C8D2E1"/>
                </a:solidFill>
              </a:defRPr>
            </a:pPr>
            <a:r>
              <a:t>📱 SMS / WhatsApp</a:t>
            </a:r>
            <a:br/>
            <a:r>
              <a:t>Smishing attacks with urgent calls-to-action and callback traps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840480"/>
            <a:ext cx="8046720" cy="914400"/>
          </a:xfrm>
          <a:prstGeom prst="roundRect">
            <a:avLst/>
          </a:prstGeom>
          <a:solidFill>
            <a:srgbClr val="0C4A6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300" b="0">
                <a:solidFill>
                  <a:srgbClr val="C8D2E1"/>
                </a:solidFill>
              </a:defRPr>
            </a:pPr>
            <a:r>
              <a:t>🌐 Web / Browser</a:t>
            </a:r>
            <a:br/>
            <a:r>
              <a:t>Typosquatting domains, fake login pages, obfuscated URLs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937759"/>
            <a:ext cx="8046720" cy="914400"/>
          </a:xfrm>
          <a:prstGeom prst="roundRect">
            <a:avLst/>
          </a:prstGeom>
          <a:solidFill>
            <a:srgbClr val="581C8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300" b="0">
                <a:solidFill>
                  <a:srgbClr val="C8D2E1"/>
                </a:solidFill>
              </a:defRPr>
            </a:pPr>
            <a:r>
              <a:t>📞 Phone / Vishing</a:t>
            </a:r>
            <a:br/>
            <a:r>
              <a:t>Lottery call scams from +92/+44 prefixes impersonating officials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Arial"/>
              </a:defRPr>
            </a:pPr>
            <a:r>
              <a:t>Human psychology is the attack surface. Automated, explainable detection is the answer.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How It Works — Step by Step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645920"/>
            <a:ext cx="1554480" cy="457200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Step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194560"/>
            <a:ext cx="155448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0">
                <a:solidFill>
                  <a:srgbClr val="C8D2E1"/>
                </a:solidFill>
              </a:defRPr>
            </a:pPr>
            <a:r>
              <a:t>User submits message</a:t>
            </a:r>
            <a:br/>
            <a:r>
              <a:t>via Web Dashboard or</a:t>
            </a:r>
            <a:br/>
            <a:r>
              <a:t>Chrome Extension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79" y="1645920"/>
            <a:ext cx="1554480" cy="457200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Step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79" y="2194560"/>
            <a:ext cx="155448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0">
                <a:solidFill>
                  <a:srgbClr val="C8D2E1"/>
                </a:solidFill>
              </a:defRPr>
            </a:pPr>
            <a:r>
              <a:t>FastAPI backend receives</a:t>
            </a:r>
            <a:br/>
            <a:r>
              <a:t>payload, enforces 256 KB</a:t>
            </a:r>
            <a:br/>
            <a:r>
              <a:t>size limit &amp; headers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1645920"/>
            <a:ext cx="1554480" cy="457200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Step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2194560"/>
            <a:ext cx="155448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0">
                <a:solidFill>
                  <a:srgbClr val="C8D2E1"/>
                </a:solidFill>
              </a:defRPr>
            </a:pPr>
            <a:r>
              <a:t>Multi-vector analysis:</a:t>
            </a:r>
            <a:br/>
            <a:r>
              <a:t>Text ML + URL scanner +</a:t>
            </a:r>
            <a:br/>
            <a:r>
              <a:t>Phone + Email engines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399" y="1645920"/>
            <a:ext cx="1554480" cy="457200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Step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399" y="2194560"/>
            <a:ext cx="155448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0">
                <a:solidFill>
                  <a:srgbClr val="C8D2E1"/>
                </a:solidFill>
              </a:defRPr>
            </a:pPr>
            <a:r>
              <a:t>Hybrid Risk Engine</a:t>
            </a:r>
            <a:br/>
            <a:r>
              <a:t>calculates weighted</a:t>
            </a:r>
            <a:br/>
            <a:r>
              <a:t>score (0–100)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79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59" y="1645920"/>
            <a:ext cx="1554480" cy="457200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Step 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59" y="2194560"/>
            <a:ext cx="155448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0">
                <a:solidFill>
                  <a:srgbClr val="C8D2E1"/>
                </a:solidFill>
              </a:defRPr>
            </a:pPr>
            <a:r>
              <a:t>Explainable verdict</a:t>
            </a:r>
            <a:br/>
            <a:r>
              <a:t>returned with detected</a:t>
            </a:r>
            <a:br/>
            <a:r>
              <a:t>threat signals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72000"/>
            <a:ext cx="8046720" cy="548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Design Principle: Ingest once → Analyze consistently → Explain the decision → Never store raw PII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End-to-End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  <a:latin typeface="Arial"/>
              </a:defRPr>
            </a:pPr>
            <a:r>
              <a:t>INPUT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  <a:latin typeface="Arial"/>
              </a:defRPr>
            </a:pPr>
            <a:r>
              <a:t>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  <a:latin typeface="Arial"/>
              </a:defRPr>
            </a:pPr>
            <a:r>
              <a:t>ML &amp;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  <a:latin typeface="Arial"/>
              </a:defRPr>
            </a:pPr>
            <a:r>
              <a:t>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920240"/>
            <a:ext cx="201168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0">
                <a:solidFill>
                  <a:srgbClr val="C8D2E1"/>
                </a:solidFill>
              </a:defRPr>
            </a:pPr>
            <a:r>
              <a:t>Chrome Extension</a:t>
            </a:r>
            <a:br/>
            <a:r>
              <a:t>(DOM Scanner)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920240"/>
            <a:ext cx="201168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0">
                <a:solidFill>
                  <a:srgbClr val="C8D2E1"/>
                </a:solidFill>
              </a:defRPr>
            </a:pPr>
            <a:r>
              <a:t>Text Normalization</a:t>
            </a:r>
            <a:br/>
            <a:r>
              <a:t>&amp; URL Extraction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920240"/>
            <a:ext cx="201168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0">
                <a:solidFill>
                  <a:srgbClr val="C8D2E1"/>
                </a:solidFill>
              </a:defRPr>
            </a:pPr>
            <a:r>
              <a:t>TF-IDF + Logistic</a:t>
            </a:r>
            <a:br/>
            <a:r>
              <a:t>Regression (NLP)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920240"/>
            <a:ext cx="1828800" cy="822960"/>
          </a:xfrm>
          <a:prstGeom prst="roundRect">
            <a:avLst/>
          </a:prstGeom>
          <a:solidFill>
            <a:srgbClr val="991B1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Risk Score</a:t>
            </a:r>
            <a:br/>
            <a:r>
              <a:t>0 –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926080"/>
            <a:ext cx="201168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0">
                <a:solidFill>
                  <a:srgbClr val="C8D2E1"/>
                </a:solidFill>
              </a:defRPr>
            </a:pPr>
            <a:r>
              <a:t>Web Dashboard</a:t>
            </a:r>
            <a:br/>
            <a:r>
              <a:t>(React + Vite)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2926080"/>
            <a:ext cx="201168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0">
                <a:solidFill>
                  <a:srgbClr val="C8D2E1"/>
                </a:solidFill>
              </a:defRPr>
            </a:pPr>
            <a:r>
              <a:t>Phone Number</a:t>
            </a:r>
            <a:br/>
            <a:r>
              <a:t>&amp; Sender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926080"/>
            <a:ext cx="201168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0">
                <a:solidFill>
                  <a:srgbClr val="C8D2E1"/>
                </a:solidFill>
              </a:defRPr>
            </a:pPr>
            <a:r>
              <a:t>URL Heuristic</a:t>
            </a:r>
            <a:br/>
            <a:r>
              <a:t>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2926080"/>
            <a:ext cx="1828800" cy="82296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Explainable</a:t>
            </a:r>
            <a:br/>
            <a:r>
              <a:t>Verdict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931920"/>
            <a:ext cx="201168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0">
                <a:solidFill>
                  <a:srgbClr val="C8D2E1"/>
                </a:solidFill>
              </a:defRPr>
            </a:pPr>
            <a:r>
              <a:t>REST API</a:t>
            </a:r>
            <a:br/>
            <a:r>
              <a:t>(SIEM / Webhook)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3931920"/>
            <a:ext cx="201168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0">
                <a:solidFill>
                  <a:srgbClr val="C8D2E1"/>
                </a:solidFill>
              </a:defRPr>
            </a:pPr>
            <a:r>
              <a:t>Email Spoofing</a:t>
            </a:r>
            <a:br/>
            <a:r>
              <a:t>Detection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3931920"/>
            <a:ext cx="201168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0">
                <a:solidFill>
                  <a:srgbClr val="C8D2E1"/>
                </a:solidFill>
              </a:defRPr>
            </a:pPr>
            <a:r>
              <a:t>Hybrid Risk</a:t>
            </a:r>
            <a:br/>
            <a:r>
              <a:t>Arbitration Engine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3931920"/>
            <a:ext cx="1828800" cy="822960"/>
          </a:xfrm>
          <a:prstGeom prst="roundRect">
            <a:avLst/>
          </a:prstGeom>
          <a:solidFill>
            <a:srgbClr val="0C4A6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Recommended</a:t>
            </a:r>
            <a:br/>
            <a:r>
              <a:t>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2194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2194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194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4206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79" y="4206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206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ML Model 1 — Primary NLP Text Classifier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t>TF-IDF Vectorization + L2-Regularized Logistic Regression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155448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Raw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79" y="1645920"/>
            <a:ext cx="155448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Clean &amp;</a:t>
            </a:r>
            <a:br/>
            <a:r>
              <a:t>Tokenize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1645920"/>
            <a:ext cx="155448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TF-IDF</a:t>
            </a:r>
            <a:br/>
            <a:r>
              <a:t>Vectorizer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399" y="1645920"/>
            <a:ext cx="155448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Logistic</a:t>
            </a:r>
            <a:br/>
            <a:r>
              <a:t>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79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59" y="1645920"/>
            <a:ext cx="155448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Probability</a:t>
            </a:r>
            <a:br/>
            <a:r>
              <a:t>(0.0 – 1.0)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82880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Accuracy</a:t>
            </a:r>
            <a:br/>
            <a:r>
              <a:t>96.84%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3017520"/>
            <a:ext cx="182880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Precision</a:t>
            </a:r>
            <a:br/>
            <a:r>
              <a:t>95.42%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79" y="3017520"/>
            <a:ext cx="182880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Recall</a:t>
            </a:r>
            <a:br/>
            <a:r>
              <a:t>97.10%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7999" y="3017520"/>
            <a:ext cx="182880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ROC-AUC</a:t>
            </a:r>
            <a:br/>
            <a:r>
              <a:t>0.9891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Training Dataset: 29,113 verified samples from Kaggle Phishing, Enron, UCI SMS Spam, Nazario archives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Arial"/>
              </a:defRPr>
            </a:pPr>
            <a:r>
              <a:t>Why Not Deep Learning?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2E1"/>
                </a:solidFill>
                <a:latin typeface="Arial"/>
              </a:defRPr>
            </a:pPr>
            <a:r>
              <a:t>• Predictions in under 15 ms (real-time browser scanning)</a:t>
            </a:r>
            <a:br/>
            <a:r>
              <a:t>• Zero hallucination — pure mathematical classification</a:t>
            </a:r>
            <a:br/>
            <a:r>
              <a:t>• Runs on CPU-only cloud servers, no GPU needed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ML Model 2 — Smishing &amp; Phone Scam Classifier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t>phone_pattern_model.pkl — Detects SMS scams and callback fraud traps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84048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300" b="0">
                <a:solidFill>
                  <a:srgbClr val="C8D2E1"/>
                </a:solidFill>
              </a:defRPr>
            </a:pPr>
            <a:r>
              <a:t>🔍 What It Detects</a:t>
            </a:r>
            <a:br/>
            <a:br/>
            <a:r>
              <a:t>• Mobile text scams: "Your power will be cut tonight!"</a:t>
            </a:r>
            <a:br/>
            <a:r>
              <a:t>• Callback fraud: "Call our officer at 09876543210"</a:t>
            </a:r>
            <a:br/>
            <a:r>
              <a:t>• KBC lottery scams from +92 / +44 prefixes</a:t>
            </a:r>
            <a:br/>
            <a:r>
              <a:t>• VoIP-generated automated numbers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645920"/>
            <a:ext cx="402336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300" b="0">
                <a:solidFill>
                  <a:srgbClr val="C8D2E1"/>
                </a:solidFill>
              </a:defRPr>
            </a:pPr>
            <a:r>
              <a:t>⚙️ Detection Mechanics</a:t>
            </a:r>
            <a:br/>
            <a:br/>
            <a:r>
              <a:t>• Phone number structure analysis (ITU-T E.164)</a:t>
            </a:r>
            <a:br/>
            <a:r>
              <a:t>• Digit entropy evaluation for VoIP detection</a:t>
            </a:r>
            <a:br/>
            <a:r>
              <a:t>• Institutional keyword + personal number mismatch</a:t>
            </a:r>
            <a:br/>
            <a:r>
              <a:t>  (e.g., "Bank" paired with 10-digit mobile)</a:t>
            </a:r>
            <a:br/>
            <a:r>
              <a:t>• Known cybercrime country code prefixes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754880"/>
            <a:ext cx="8229600" cy="914400"/>
          </a:xfrm>
          <a:prstGeom prst="roundRect">
            <a:avLst/>
          </a:prstGeom>
          <a:solidFill>
            <a:srgbClr val="991B1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Example: "URGENT — Your electricity bill is overdue. Call 09123456789 immediately to avoid disconnection."</a:t>
            </a:r>
            <a:br/>
            <a:r>
              <a:t>→ Verdict: CRITICAL (Institutional claim + personal mobile number = callback fraud)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ML Model 3 — Email Spoofing Classifier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t>email_pattern_model.pkl — Detects spoofed senders and Business Email Compromise (BEC)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8404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300" b="0">
                <a:solidFill>
                  <a:srgbClr val="C8D2E1"/>
                </a:solidFill>
              </a:defRPr>
            </a:pPr>
            <a:r>
              <a:t>🔍 What It Detects</a:t>
            </a:r>
            <a:br/>
            <a:br/>
            <a:r>
              <a:t>• Official-sounding names from free email addresses</a:t>
            </a:r>
            <a:br/>
            <a:r>
              <a:t>  → "SBI Security Team" &lt;sbi.alert@gmail.com&gt;</a:t>
            </a:r>
            <a:br/>
            <a:r>
              <a:t>• Disposable / burner email domains</a:t>
            </a:r>
            <a:br/>
            <a:r>
              <a:t>  → tempmail.com, mailinator.com, guerrillamail.com</a:t>
            </a:r>
            <a:br/>
            <a:r>
              <a:t>• High-abuse Top-Level Domains</a:t>
            </a:r>
            <a:br/>
            <a:r>
              <a:t>  → .xyz, .top, .buzz, .icu, .click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645920"/>
            <a:ext cx="402336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300" b="0">
                <a:solidFill>
                  <a:srgbClr val="C8D2E1"/>
                </a:solidFill>
              </a:defRPr>
            </a:pPr>
            <a:r>
              <a:t>⚙️ How It Works</a:t>
            </a:r>
            <a:br/>
            <a:br/>
            <a:r>
              <a:t>• Extracts sender display name &amp; email domain</a:t>
            </a:r>
            <a:br/>
            <a:r>
              <a:t>• Cross-checks brand keywords against domain</a:t>
            </a:r>
            <a:br/>
            <a:r>
              <a:t>• Flags mismatch: brand claim + free/burner domain</a:t>
            </a:r>
            <a:br/>
            <a:r>
              <a:t>• Classifies TLD reputation risk tier</a:t>
            </a:r>
            <a:br/>
            <a:r>
              <a:t>• Applies sender trust score to Risk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937760"/>
            <a:ext cx="8229600" cy="914400"/>
          </a:xfrm>
          <a:prstGeom prst="roundRect">
            <a:avLst/>
          </a:prstGeom>
          <a:solidFill>
            <a:srgbClr val="991B1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Example: From "HDFC Bank Alert" &lt;hdfc.verify2024@yahoo.com&gt;</a:t>
            </a:r>
            <a:br/>
            <a:r>
              <a:t>→ Verdict: CRITICAL (Bank brand name + free webmail domain = spoofed sender)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ML Model 4 — Hybrid Risk Arbitration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t>Combines all models into a single calibrated 0–100 threat score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45920"/>
            <a:ext cx="2011680" cy="1463040"/>
          </a:xfrm>
          <a:prstGeom prst="roundRect">
            <a:avLst/>
          </a:prstGeom>
          <a:solidFill>
            <a:srgbClr val="0C4A6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Text ML Score</a:t>
            </a:r>
            <a:br/>
            <a:br/>
            <a:r>
              <a:t>Weight: 40–50%</a:t>
            </a:r>
            <a:br/>
            <a:r>
              <a:t>NLP classifier probability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1645920"/>
            <a:ext cx="2011680" cy="1463040"/>
          </a:xfrm>
          <a:prstGeom prst="roundRect">
            <a:avLst/>
          </a:prstGeom>
          <a:solidFill>
            <a:srgbClr val="B45309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URL Risk</a:t>
            </a:r>
            <a:br/>
            <a:br/>
            <a:r>
              <a:t>Weight: Up to 80%</a:t>
            </a:r>
            <a:br/>
            <a:r>
              <a:t>Typosquatting, raw IP, HTTP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645920"/>
            <a:ext cx="2011680" cy="1463040"/>
          </a:xfrm>
          <a:prstGeom prst="roundRect">
            <a:avLst/>
          </a:prstGeom>
          <a:solidFill>
            <a:srgbClr val="581C8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Phone Pattern</a:t>
            </a:r>
            <a:br/>
            <a:br/>
            <a:r>
              <a:t>Weight: +15–25</a:t>
            </a:r>
            <a:br/>
            <a:r>
              <a:t>Callback fraud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645920"/>
            <a:ext cx="2011680" cy="1463040"/>
          </a:xfrm>
          <a:prstGeom prst="roundRect">
            <a:avLst/>
          </a:prstGeom>
          <a:solidFill>
            <a:srgbClr val="991B1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Email Spoof</a:t>
            </a:r>
            <a:br/>
            <a:br/>
            <a:r>
              <a:t>Weight: +20–30</a:t>
            </a:r>
            <a:br/>
            <a:r>
              <a:t>Sender domain mismatch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804672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Compound Escalation Rule</a:t>
            </a:r>
            <a:br/>
            <a:br/>
            <a:r>
              <a:t>If text panic language AND suspicious URL are BOTH present → automatic +35 point amplification penalty.</a:t>
            </a:r>
            <a:br/>
            <a:r>
              <a:t>If confirmed brand spoofing or toll-fraud callback → immediate CRITICAL override.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29200"/>
            <a:ext cx="2651760" cy="54864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SAFE  (0 – 39)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5029200"/>
            <a:ext cx="2651760" cy="548640"/>
          </a:xfrm>
          <a:prstGeom prst="roundRect">
            <a:avLst/>
          </a:prstGeom>
          <a:solidFill>
            <a:srgbClr val="B45309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SUSPICIOUS  (40 – 69)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029200"/>
            <a:ext cx="2651760" cy="548640"/>
          </a:xfrm>
          <a:prstGeom prst="roundRect">
            <a:avLst/>
          </a:prstGeom>
          <a:solidFill>
            <a:srgbClr val="991B1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CRITICAL  (70 – 100)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URL Security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t>Structural heuristics that catch zero-day phishing domains before blacklists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https://secure-bank-login-example.com/verify-account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560320"/>
            <a:ext cx="164592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0">
                <a:solidFill>
                  <a:srgbClr val="C8D2E1"/>
                </a:solidFill>
              </a:defRPr>
            </a:pPr>
            <a:r>
              <a:t>HTTPS Status</a:t>
            </a:r>
            <a:br/>
            <a:br/>
            <a:r>
              <a:t>Checks TLS/SSL</a:t>
            </a:r>
            <a:br/>
            <a:r>
              <a:t>presence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79" y="2560320"/>
            <a:ext cx="164592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0">
                <a:solidFill>
                  <a:srgbClr val="C8D2E1"/>
                </a:solidFill>
              </a:defRPr>
            </a:pPr>
            <a:r>
              <a:t>Domain Length</a:t>
            </a:r>
            <a:br/>
            <a:br/>
            <a:r>
              <a:t>Long domains with</a:t>
            </a:r>
            <a:br/>
            <a:r>
              <a:t>excess hyphens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2560320"/>
            <a:ext cx="164592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0">
                <a:solidFill>
                  <a:srgbClr val="C8D2E1"/>
                </a:solidFill>
              </a:defRPr>
            </a:pPr>
            <a:r>
              <a:t>Typosquatting</a:t>
            </a:r>
            <a:br/>
            <a:br/>
            <a:r>
              <a:t>Levenshtein distance</a:t>
            </a:r>
            <a:br/>
            <a:r>
              <a:t>vs trusted brands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399" y="2560320"/>
            <a:ext cx="164592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0">
                <a:solidFill>
                  <a:srgbClr val="C8D2E1"/>
                </a:solidFill>
              </a:defRPr>
            </a:pPr>
            <a:r>
              <a:t>Path Keywords</a:t>
            </a:r>
            <a:br/>
            <a:br/>
            <a:r>
              <a:t>/login, /verify,</a:t>
            </a:r>
            <a:br/>
            <a:r>
              <a:t>/credential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59" y="2560320"/>
            <a:ext cx="164592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0">
                <a:solidFill>
                  <a:srgbClr val="C8D2E1"/>
                </a:solidFill>
              </a:defRPr>
            </a:pPr>
            <a:r>
              <a:t>Raw IP Host</a:t>
            </a:r>
            <a:br/>
            <a:br/>
            <a:r>
              <a:t>IP address instead</a:t>
            </a:r>
            <a:br/>
            <a:r>
              <a:t>of domain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Arial"/>
              </a:defRPr>
            </a:pPr>
            <a:r>
              <a:t>Why this matters: Static blacklists miss newly registered domains. Structural heuristics catch them within minutes.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Explainable AI — Why, Not Just 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t>Every scan shows exactly which signals contributed to the verdict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457200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300" b="0">
                <a:solidFill>
                  <a:srgbClr val="C8D2E1"/>
                </a:solidFill>
              </a:defRPr>
            </a:pPr>
            <a:r>
              <a:t>🚨 CRITICAL — 91 / 100</a:t>
            </a:r>
            <a:br/>
            <a:br/>
            <a:r>
              <a:t>✓ Urgent language pattern detected</a:t>
            </a:r>
            <a:br/>
            <a:r>
              <a:t>✓ Financial context ("account suspended")</a:t>
            </a:r>
            <a:br/>
            <a:r>
              <a:t>✓ Credential request ("verify your identity")</a:t>
            </a:r>
            <a:br/>
            <a:r>
              <a:t>✓ Suspicious URL with typosquatting</a:t>
            </a:r>
            <a:br/>
            <a:r>
              <a:t>✓ Unverified sender domain</a:t>
            </a:r>
            <a:br/>
            <a:br/>
            <a:r>
              <a:t>Recommended Action: DO NOT OPEN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645920"/>
            <a:ext cx="3291840" cy="3657600"/>
          </a:xfrm>
          <a:prstGeom prst="roundRect">
            <a:avLst/>
          </a:prstGeom>
          <a:solidFill>
            <a:srgbClr val="0C4A6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Why Explainability Matters</a:t>
            </a:r>
            <a:br/>
            <a:br/>
            <a:r>
              <a:t>• Users see WHY something is flagged</a:t>
            </a:r>
            <a:br/>
            <a:r>
              <a:t>  (not just a black-box "blocked")</a:t>
            </a:r>
            <a:br/>
            <a:br/>
            <a:r>
              <a:t>• Builds trust — users learn threat patterns</a:t>
            </a:r>
            <a:br/>
            <a:br/>
            <a:r>
              <a:t>• SOC analysts can validate alerts faster</a:t>
            </a:r>
            <a:br/>
            <a:br/>
            <a:r>
              <a:t>• Reduces alert fatigue from false positives</a:t>
            </a:r>
            <a:br/>
            <a:br/>
            <a:r>
              <a:t>• GDPR / compliance — transparent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Cybersecurity Concepts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54864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Social Engineering &amp; Urgency Exploitation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2E1"/>
                </a:solidFill>
                <a:latin typeface="Arial"/>
              </a:defRPr>
            </a:pPr>
            <a:r>
              <a:t>Attackers exploit fear, curiosity, or greed to force rushed decisions.</a:t>
            </a:r>
            <a:br/>
            <a:r>
              <a:t>Countermeasure: NLP model detects panic language like "action required within 2 hours".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108960"/>
            <a:ext cx="54864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Phishing &amp; Spear Phishing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2E1"/>
                </a:solidFill>
                <a:latin typeface="Arial"/>
              </a:defRPr>
            </a:pPr>
            <a:r>
              <a:t>Deceptive messages trick users into revealing passwords, PINs, or credit card numbers.</a:t>
            </a:r>
            <a:br/>
            <a:r>
              <a:t>Countermeasure: Evaluates message semantics and sender identity to catch credential harvesting.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754880"/>
            <a:ext cx="54864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Smishing &amp; Callback Vishing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7492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2E1"/>
                </a:solidFill>
                <a:latin typeface="Arial"/>
              </a:defRPr>
            </a:pPr>
            <a:r>
              <a:t>SMS traps instructing victims to call fake support numbers for manufactured emergencies.</a:t>
            </a:r>
            <a:br/>
            <a:r>
              <a:t>Countermeasure: Phone analyzer flags institutional mismatches and known cybercrime prefixes.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Cybersecurity Concepts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54864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Typosquatting &amp; Homoglyph Attacks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2E1"/>
                </a:solidFill>
                <a:latin typeface="Arial"/>
              </a:defRPr>
            </a:pPr>
            <a:r>
              <a:t>Fake domains resembling trusted brands (paypa1.com, goog1e.com).</a:t>
            </a:r>
            <a:br/>
            <a:r>
              <a:t>Countermeasure: Levenshtein Distance measures single-character edits against known brand list.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108960"/>
            <a:ext cx="54864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Zero-Day Threat Interception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2E1"/>
                </a:solidFill>
                <a:latin typeface="Arial"/>
              </a:defRPr>
            </a:pPr>
            <a:r>
              <a:t>New phishing domains bypass static blacklists in the first hours of a campaign.</a:t>
            </a:r>
            <a:br/>
            <a:r>
              <a:t>Countermeasure: Structural URL heuristics (raw IP, suspicious subdomains, HTTP protocol) flag threats immediately.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754880"/>
            <a:ext cx="54864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Defense in Depth (Layered Security)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7492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2E1"/>
                </a:solidFill>
                <a:latin typeface="Arial"/>
              </a:defRPr>
            </a:pPr>
            <a:r>
              <a:t>Six defensive layers: Chrome DOM interception → API Gateway limits → Text normalization →</a:t>
            </a:r>
            <a:br/>
            <a:r>
              <a:t>ML classification → Rule engines (URL, phone, email) → Risk engine correlation.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Cybersecurity Concepts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54864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Explainable AI (XAI) in Cybersecurity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2E1"/>
                </a:solidFill>
                <a:latin typeface="Arial"/>
              </a:defRPr>
            </a:pPr>
            <a:r>
              <a:t>SOC analysts need to know WHY an alert was triggered, not just trust a black-box.</a:t>
            </a:r>
            <a:br/>
            <a:r>
              <a:t>Countermeasure: Every scan provides a detailed breakdown of detected threat factors.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108960"/>
            <a:ext cx="54864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ReDoS Defense (Regex Denial-of-Service)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2E1"/>
                </a:solidFill>
                <a:latin typeface="Arial"/>
              </a:defRPr>
            </a:pPr>
            <a:r>
              <a:t>Crafted text strings cause regex engines to enter catastrophic backtracking, freezing the CPU.</a:t>
            </a:r>
            <a:br/>
            <a:r>
              <a:t>Countermeasure: 256 KB payload cap via ContentLengthLimitMiddleware + bounded, non-catastrophic patterns.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754880"/>
            <a:ext cx="54864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Zero-PII Storage (SHA-256 Hashing)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7492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2E1"/>
                </a:solidFill>
                <a:latin typeface="Arial"/>
              </a:defRPr>
            </a:pPr>
            <a:r>
              <a:t>Security tools must not become targets for data leaks by storing raw user messages.</a:t>
            </a:r>
            <a:br/>
            <a:r>
              <a:t>Countermeasure: Only SHA-256 hashes are stored for deduplication — zero personally identifiable information.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463040"/>
            <a:ext cx="2743200" cy="2103120"/>
          </a:xfrm>
          <a:prstGeom prst="roundRect">
            <a:avLst/>
          </a:prstGeom>
          <a:solidFill>
            <a:srgbClr val="0C4A6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🖥️ FRONTEND</a:t>
            </a:r>
            <a:br/>
            <a:br/>
            <a:r>
              <a:t>React 18.2</a:t>
            </a:r>
            <a:br/>
            <a:r>
              <a:t>Vite 5.0</a:t>
            </a:r>
            <a:br/>
            <a:r>
              <a:t>Tailwind CSS 3.3</a:t>
            </a:r>
            <a:br/>
            <a:r>
              <a:t>Lucide Icons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463040"/>
            <a:ext cx="2743200" cy="210312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⚡ BACKEND</a:t>
            </a:r>
            <a:br/>
            <a:br/>
            <a:r>
              <a:t>Python 3.11</a:t>
            </a:r>
            <a:br/>
            <a:r>
              <a:t>FastAPI 0.115</a:t>
            </a:r>
            <a:br/>
            <a:r>
              <a:t>Uvicorn (ASGI)</a:t>
            </a:r>
            <a:br/>
            <a:r>
              <a:t>Pydantic 2.x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2743200" cy="2103120"/>
          </a:xfrm>
          <a:prstGeom prst="roundRect">
            <a:avLst/>
          </a:prstGeom>
          <a:solidFill>
            <a:srgbClr val="581C8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🧠 ML / AI</a:t>
            </a:r>
            <a:br/>
            <a:br/>
            <a:r>
              <a:t>Scikit-Learn 1.5</a:t>
            </a:r>
            <a:br/>
            <a:r>
              <a:t>TF-IDF Vectorizer</a:t>
            </a:r>
            <a:br/>
            <a:r>
              <a:t>Logistic Regression</a:t>
            </a:r>
            <a:br/>
            <a:r>
              <a:t>Joblib (serialization)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4023360"/>
            <a:ext cx="2743200" cy="2103120"/>
          </a:xfrm>
          <a:prstGeom prst="roundRect">
            <a:avLst/>
          </a:prstGeom>
          <a:solidFill>
            <a:srgbClr val="B45309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🔒 BROWSER</a:t>
            </a:r>
            <a:br/>
            <a:br/>
            <a:r>
              <a:t>Chrome Extension</a:t>
            </a:r>
            <a:br/>
            <a:r>
              <a:t>Manifest V3</a:t>
            </a:r>
            <a:br/>
            <a:r>
              <a:t>Service Worker</a:t>
            </a:r>
            <a:br/>
            <a:r>
              <a:t>DOM Scanning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4023360"/>
            <a:ext cx="2743200" cy="2103120"/>
          </a:xfrm>
          <a:prstGeom prst="roundRect">
            <a:avLst/>
          </a:prstGeom>
          <a:solidFill>
            <a:srgbClr val="991B1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🗄️ DATABASE</a:t>
            </a:r>
            <a:br/>
            <a:br/>
            <a:r>
              <a:t>MongoDB Atlas 7.0+</a:t>
            </a:r>
            <a:br/>
            <a:r>
              <a:t>PyMongo 3.6</a:t>
            </a:r>
            <a:br/>
            <a:r>
              <a:t>SHA-256 Hashing</a:t>
            </a:r>
            <a:br/>
            <a:r>
              <a:t>Zero-PII Storage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023360"/>
            <a:ext cx="274320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☁️ CLOUD</a:t>
            </a:r>
            <a:br/>
            <a:br/>
            <a:r>
              <a:t>Vercel (Frontend)</a:t>
            </a:r>
            <a:br/>
            <a:r>
              <a:t>Render (Backend)</a:t>
            </a:r>
            <a:br/>
            <a:r>
              <a:t>GitHub (VCS)</a:t>
            </a:r>
            <a:br/>
            <a:r>
              <a:t>HTTPS / TLS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Chrome Extension — Live Browser Protection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411480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300" b="0">
                <a:solidFill>
                  <a:srgbClr val="C8D2E1"/>
                </a:solidFill>
              </a:defRPr>
            </a:pPr>
            <a:r>
              <a:t>How to Use</a:t>
            </a:r>
            <a:br/>
            <a:br/>
            <a:r>
              <a:t>1. Install extension from chrome://extensions (Developer Mode)</a:t>
            </a:r>
            <a:br/>
            <a:r>
              <a:t>2. Navigate to any webpage — Gmail, WhatsApp Web, news sites</a:t>
            </a:r>
            <a:br/>
            <a:r>
              <a:t>3. Highlight suspicious text with your mouse</a:t>
            </a:r>
            <a:br/>
            <a:r>
              <a:t>4. Click the Phishing Shield AI extension icon</a:t>
            </a:r>
            <a:br/>
            <a:r>
              <a:t>5. Click "Scan" — instant risk score with explanation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463040"/>
            <a:ext cx="3749039" cy="2926080"/>
          </a:xfrm>
          <a:prstGeom prst="roundRect">
            <a:avLst/>
          </a:prstGeom>
          <a:solidFill>
            <a:srgbClr val="0C4A6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Extension Architecture</a:t>
            </a:r>
            <a:br/>
            <a:br/>
            <a:r>
              <a:t>• Manifest V3 (latest Chrome standard)</a:t>
            </a:r>
            <a:br/>
            <a:r>
              <a:t>• Background Service Worker for API calls</a:t>
            </a:r>
            <a:br/>
            <a:r>
              <a:t>• Content script extracts selected text from DOM</a:t>
            </a:r>
            <a:br/>
            <a:r>
              <a:t>• Connects to local backend (127.0.0.1:8000)</a:t>
            </a:r>
            <a:br/>
            <a:r>
              <a:t>• Supports cloud backend auto-failover</a:t>
            </a:r>
            <a:br/>
            <a:r>
              <a:t>• Shows: Score, Verdict, Signals,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754880"/>
            <a:ext cx="8229600" cy="731520"/>
          </a:xfrm>
          <a:prstGeom prst="roundRect">
            <a:avLst/>
          </a:prstGeom>
          <a:solidFill>
            <a:srgbClr val="991B1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⚡ Result Example:  CRITICAL — 91/100  |  Signals: Urgent language, credential request, suspicious URL  |  Action: DO NOT OPEN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Security &amp; Privacy by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8046720" cy="685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100" b="0">
                <a:solidFill>
                  <a:srgbClr val="C8D2E1"/>
                </a:solidFill>
              </a:defRPr>
            </a:pPr>
            <a:r>
              <a:t>🔐 Least Privilege  —  No root access, no app database decryption. Reads only selected text or notification content.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8046720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100" b="0">
                <a:solidFill>
                  <a:srgbClr val="C8D2E1"/>
                </a:solidFill>
              </a:defRPr>
            </a:pPr>
            <a:r>
              <a:t>🔑 No Secrets in Code  —  API keys stored as environment variables. .env files excluded from version control.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926080"/>
            <a:ext cx="8046720" cy="685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100" b="0">
                <a:solidFill>
                  <a:srgbClr val="C8D2E1"/>
                </a:solidFill>
              </a:defRPr>
            </a:pPr>
            <a:r>
              <a:t>🗑️ Minimal Retention  —  Raw messages are never stored. Only SHA-256 fingerprints kept for deduplication.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749039"/>
            <a:ext cx="8046720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100" b="0">
                <a:solidFill>
                  <a:srgbClr val="C8D2E1"/>
                </a:solidFill>
              </a:defRPr>
            </a:pPr>
            <a:r>
              <a:t>🔒 Transport Security  —  Production API encrypted over HTTPS/TLS. CORS whitelisting for trusted origins.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8046720" cy="685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100" b="0">
                <a:solidFill>
                  <a:srgbClr val="C8D2E1"/>
                </a:solidFill>
              </a:defRPr>
            </a:pPr>
            <a:r>
              <a:t>📦 Content Size Limits  —  256 KB payload cap blocks ReDoS attempts and prevents resource exhaustion.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394960"/>
            <a:ext cx="8046720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100" b="0">
                <a:solidFill>
                  <a:srgbClr val="C8D2E1"/>
                </a:solidFill>
              </a:defRPr>
            </a:pPr>
            <a:r>
              <a:t>🛡️ Security Headers  —  X-Content-Type-Options, X-Frame-Options, CSP headers enforced on all responses.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Live Demonstration Scenarios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8046720" cy="86868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✅ SAFE   "Hey, are you coming to college tomorrow? Let me know."</a:t>
            </a:r>
            <a:br/>
            <a:r>
              <a:t>→ Score: 5 / 100 — SAFE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377440"/>
            <a:ext cx="8046720" cy="868680"/>
          </a:xfrm>
          <a:prstGeom prst="roundRect">
            <a:avLst/>
          </a:prstGeom>
          <a:solidFill>
            <a:srgbClr val="B45309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⚠️ SUSPICIOUS   "Your account needs verification. Click here to update your details."</a:t>
            </a:r>
            <a:br/>
            <a:r>
              <a:t>→ Score: 58 / 100 — SUSPICIOUS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383280"/>
            <a:ext cx="8046720" cy="868680"/>
          </a:xfrm>
          <a:prstGeom prst="roundRect">
            <a:avLst/>
          </a:prstGeom>
          <a:solidFill>
            <a:srgbClr val="991B1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🚨 CRITICAL   "URGENT: Your bank account is suspended! Verify now: secure-bank-login.com"</a:t>
            </a:r>
            <a:br/>
            <a:r>
              <a:t>→ Score: 92 / 100 — CRITICAL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389120"/>
            <a:ext cx="8046720" cy="868680"/>
          </a:xfrm>
          <a:prstGeom prst="roundRect">
            <a:avLst/>
          </a:prstGeom>
          <a:solidFill>
            <a:srgbClr val="781E1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📱 SMISHING   "Your electricity will be cut tonight. Call 09876543210 to pay immediately."</a:t>
            </a:r>
            <a:br/>
            <a:r>
              <a:t>→ Score: 88 / 100 — CRITICAL (Callback Fraud)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94960"/>
            <a:ext cx="8046720" cy="868680"/>
          </a:xfrm>
          <a:prstGeom prst="roundRect">
            <a:avLst/>
          </a:prstGeom>
          <a:solidFill>
            <a:srgbClr val="581C8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📧 SPOOFED   From "SBI Alert" &lt;sbi.security@gmail.com&gt; — "Verify your KYC immediately"</a:t>
            </a:r>
            <a:br/>
            <a:r>
              <a:t>→ Score: 85 / 100 — CRITICAL (Spoofed Sender)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Arial"/>
              </a:defRPr>
            </a:pPr>
            <a:r>
              <a:t>Live flow: Payload → JSON → FastAPI → ML + URL + Phone + Email → Risk Engine → Dashboard Alert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0"/>
            <a:ext cx="73152" cy="2011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4A3B8"/>
                </a:solidFill>
                <a:latin typeface="Arial"/>
              </a:defRPr>
            </a:pPr>
            <a:r>
              <a:t>Questions &amp;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023360"/>
            <a:ext cx="731520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400" b="0">
                <a:solidFill>
                  <a:srgbClr val="38BDF8"/>
                </a:solidFill>
              </a:defRPr>
            </a:pPr>
            <a:r>
              <a:t>🌐 Live Site:  phishing-shield-ai-web.vercel.app</a:t>
            </a:r>
            <a:br/>
            <a:r>
              <a:t>💻 GitHub:  github.com/RamNarayan0/phishing-shield-ai</a:t>
            </a:r>
            <a:br/>
            <a:r>
              <a:t>🔒 Chrome Extension:  Loaded via Developer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