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1188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Arial"/>
              </a:defRPr>
            </a:pPr>
            <a:r>
              <a:t>B.TECH CSE — 3RD YEAR 1ST SEMESTER  |  MAJOR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Phishing Shield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Arial"/>
              </a:defRPr>
            </a:pPr>
            <a:r>
              <a:t>Multi-Vector AI-Powered Phishing Threat Detection and Real-Time Mitigation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8046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3657600"/>
              </a:tblGrid>
              <a:tr h="58782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Batch No.</a:t>
                      </a:r>
                    </a:p>
                  </a:txBody>
                  <a:tcPr>
                    <a:solidFill>
                      <a:srgbClr val="0C4A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3B2</a:t>
                      </a:r>
                    </a:p>
                  </a:txBody>
                  <a:tcPr>
                    <a:solidFill>
                      <a:srgbClr val="0C4A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Academic Year: 3rd Year - 1st Sem</a:t>
                      </a:r>
                    </a:p>
                  </a:txBody>
                  <a:tcPr>
                    <a:solidFill>
                      <a:srgbClr val="0C4A6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Title of the Project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Phishing Shield AI – Multi-Vector AI-Powered Phishing Threat Detection and Real-Time Mitigation System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Arial"/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Details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Roll No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Name of the Student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Student Details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24891A0594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KOTHAPALLY BINDUSREE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24891A0596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MALLEPAKULA BHUVANISHWARI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24891A0575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DUNGROTHU NIKHIL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24891A0573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DEVARASHETTY RAM NARAYAN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6035040"/>
            <a:ext cx="8046720" cy="50292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Guide Name:   Mr. VSSPLN Balaji Lanka  (Assistant Professor, Dept. of CSE)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Problem: Cross-Channel Social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200" b="0">
                <a:solidFill>
                  <a:srgbClr val="E2E8F0"/>
                </a:solidFill>
                <a:latin typeface="Arial"/>
              </a:defRPr>
            </a:pPr>
            <a:r>
              <a:t>Traditional Security Defenses Are Broken</a:t>
            </a:r>
            <a:br/>
            <a:br/>
            <a:r>
              <a:t>- Static URL Blacklists: Blind to freshly registered Zero-Day phishing domains during the critical initial 2-4 hours.</a:t>
            </a:r>
            <a:br/>
            <a:br/>
            <a:r>
              <a:t>- Email-Only Filters: Completely miss SMS smishing, WhatsApp lottery calls, and direct browser attacks.</a:t>
            </a:r>
            <a:br/>
            <a:br/>
            <a:r>
              <a:t>- Opaque Black-Box AI: High false alarms without actionable explanations cause severe alert fatigue for users and SOC teams.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280160"/>
            <a:ext cx="4023360" cy="109728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FFFFFF"/>
                </a:solidFill>
                <a:latin typeface="Arial"/>
              </a:defRPr>
            </a:pPr>
            <a:r>
              <a:t>Phishing (Email / Web)</a:t>
            </a:r>
            <a:br/>
            <a:r>
              <a:t>Spoofed sender headers, fake login portals, brand impersonation.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514600"/>
            <a:ext cx="4023360" cy="109728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FFFFFF"/>
                </a:solidFill>
                <a:latin typeface="Arial"/>
              </a:defRPr>
            </a:pPr>
            <a:r>
              <a:t>Smishing (SMS / WhatsApp)</a:t>
            </a:r>
            <a:br/>
            <a:r>
              <a:t>Panic text traps: 'Power disconnection tonight! Call officer immediately.'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3749039"/>
            <a:ext cx="4023360" cy="1097280"/>
          </a:xfrm>
          <a:prstGeom prst="roundRect">
            <a:avLst/>
          </a:prstGeom>
          <a:solidFill>
            <a:srgbClr val="581C8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FFFFFF"/>
                </a:solidFill>
                <a:latin typeface="Arial"/>
              </a:defRPr>
            </a:pPr>
            <a:r>
              <a:t>Typosquatting Domains</a:t>
            </a:r>
            <a:br/>
            <a:r>
              <a:t>Visual deception: paypa1.com, rnicrosoft.com, goog1e.com.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4983480"/>
            <a:ext cx="4023360" cy="109728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FFFFFF"/>
                </a:solidFill>
                <a:latin typeface="Arial"/>
              </a:defRPr>
            </a:pPr>
            <a:r>
              <a:t>Callback Vishing Traps</a:t>
            </a:r>
            <a:br/>
            <a:r>
              <a:t>VoIP-generated phone scams (+92, +44) exploiting trust &amp; fear.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End-to-End System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508760" cy="73152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Step 1</a:t>
            </a:r>
            <a:br/>
            <a:r>
              <a:t>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1508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100" b="0">
                <a:solidFill>
                  <a:srgbClr val="E2E8F0"/>
                </a:solidFill>
                <a:latin typeface="Arial"/>
              </a:defRPr>
            </a:pPr>
            <a:r>
              <a:t>Web Dashboard, Chrome Ext, or SIEM API submits raw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4248" y="15544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371600"/>
            <a:ext cx="1508760" cy="73152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Step 2</a:t>
            </a:r>
            <a:br/>
            <a:r>
              <a:t>Perimeter Defense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2194560"/>
            <a:ext cx="1508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100" b="0">
                <a:solidFill>
                  <a:srgbClr val="E2E8F0"/>
                </a:solidFill>
                <a:latin typeface="Arial"/>
              </a:defRPr>
            </a:pPr>
            <a:r>
              <a:t>FastAPI validates payload, enforces 256 KB ReDoS cap &amp; headers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15544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371600"/>
            <a:ext cx="1508760" cy="73152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Step 3</a:t>
            </a:r>
            <a:br/>
            <a:r>
              <a:t>Multi-Vector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2194560"/>
            <a:ext cx="1508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100" b="0">
                <a:solidFill>
                  <a:srgbClr val="E2E8F0"/>
                </a:solidFill>
                <a:latin typeface="Arial"/>
              </a:defRPr>
            </a:pPr>
            <a:r>
              <a:t>Text NLP + URL scanner + Phone trap + Email spoofing engines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088" y="15544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1371600"/>
            <a:ext cx="1508760" cy="73152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Step 4</a:t>
            </a:r>
            <a:br/>
            <a:r>
              <a:t>Hybrid Risk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2194560"/>
            <a:ext cx="1508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100" b="0">
                <a:solidFill>
                  <a:srgbClr val="E2E8F0"/>
                </a:solidFill>
                <a:latin typeface="Arial"/>
              </a:defRPr>
            </a:pPr>
            <a:r>
              <a:t>Arbitrates weighted threat factors &amp; compound penalties (0–100)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15544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1371600"/>
            <a:ext cx="1508760" cy="73152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Step 5</a:t>
            </a:r>
            <a:br/>
            <a:r>
              <a:t>Explainable Output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2194560"/>
            <a:ext cx="1508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100" b="0">
                <a:solidFill>
                  <a:srgbClr val="E2E8F0"/>
                </a:solidFill>
                <a:latin typeface="Arial"/>
              </a:defRPr>
            </a:pPr>
            <a:r>
              <a:t>Returns risk score, signals, action, &amp; stores zero-PII hash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97680"/>
            <a:ext cx="8229600" cy="1920240"/>
          </a:xfrm>
          <a:prstGeom prst="roundRect">
            <a:avLst/>
          </a:prstGeom>
          <a:solidFill>
            <a:srgbClr val="141E30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200" b="0">
                <a:solidFill>
                  <a:srgbClr val="E2E8F0"/>
                </a:solidFill>
                <a:latin typeface="Arial"/>
              </a:defRPr>
            </a:pPr>
            <a:r>
              <a:t>Architecture Invariants:</a:t>
            </a:r>
            <a:br/>
            <a:r>
              <a:t>1. Single Analysis Core: Centralized FastAPI brain powers both Chrome Extension and Web Dashboard uniformly.</a:t>
            </a:r>
            <a:br/>
            <a:r>
              <a:t>2. Deterministic + ML Fusion: Combines mathematical NLP probability with rule-based security heuristics.</a:t>
            </a:r>
            <a:br/>
            <a:r>
              <a:t>3. Privacy-by-Design: Raw user messages are never saved; only deterministic SHA-256 hashes are indexed.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Machine Learning Architecture (The 4 Models)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4023360" cy="228600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Model 1: Primary NLP Classifier</a:t>
            </a:r>
            <a:br/>
            <a:r>
              <a:t>[model.pkl + vectorizer.pkl]</a:t>
            </a:r>
            <a:br/>
            <a:br/>
            <a:r>
              <a:t>• Sublinear TF-IDF (unigrams + bigrams) + L2 Logistic Regression</a:t>
            </a:r>
            <a:br/>
            <a:r>
              <a:t>• Trained on 29,113 samples (Kaggle Phishing, Enron, UCI SMS)</a:t>
            </a:r>
            <a:br/>
            <a:r>
              <a:t>• 96.84% Accuracy | 97.10% Recall | 0.9891 ROC-AUC</a:t>
            </a:r>
            <a:br/>
            <a:r>
              <a:t>• Latency: Under 15 ms (runs on lightweight CPU instances)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4023360" cy="228600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Model 2: Smishing &amp; Phone Classifier</a:t>
            </a:r>
            <a:br/>
            <a:r>
              <a:t>[phone_pattern_model.pkl]</a:t>
            </a:r>
            <a:br/>
            <a:br/>
            <a:r>
              <a:t>• ITU-T E.164 phone structure &amp; country-code analysis (+92, +44)</a:t>
            </a:r>
            <a:br/>
            <a:r>
              <a:t>• Digit entropy evaluation for automated VoIP-generated numbers</a:t>
            </a:r>
            <a:br/>
            <a:r>
              <a:t>• Detects institutional keyword + personal mobile mismatch</a:t>
            </a:r>
            <a:br/>
            <a:r>
              <a:t>• Flags callback traps: 'Power will be cut! Call officer immediately'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4023360" cy="2286000"/>
          </a:xfrm>
          <a:prstGeom prst="roundRect">
            <a:avLst/>
          </a:prstGeom>
          <a:solidFill>
            <a:srgbClr val="581C8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Model 3: Email Spoofing Classifier</a:t>
            </a:r>
            <a:br/>
            <a:r>
              <a:t>[email_pattern_model.pkl]</a:t>
            </a:r>
            <a:br/>
            <a:br/>
            <a:r>
              <a:t>• Detects official display names originating from free webmail</a:t>
            </a:r>
            <a:br/>
            <a:r>
              <a:t>  (e.g., 'SBI Security Team' &lt;sbi.kyc.alert@gmail.com&gt;)</a:t>
            </a:r>
            <a:br/>
            <a:r>
              <a:t>• Flags disposable burner domains (tempmail, mailinator)</a:t>
            </a:r>
            <a:br/>
            <a:r>
              <a:t>• Evaluates high-abuse Top-Level Domains (.xyz, .top, .buzz)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749039"/>
            <a:ext cx="4023360" cy="228600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Model 4: Hybrid Risk Arbitration Engine</a:t>
            </a:r>
            <a:br/>
            <a:r>
              <a:t>[risk_engine.py]</a:t>
            </a:r>
            <a:br/>
            <a:br/>
            <a:r>
              <a:t>• URL Factor (up to 80%) + Text NLP Factor (40-50%)</a:t>
            </a:r>
            <a:br/>
            <a:r>
              <a:t>• Compound Escalation: Urgent text + suspicious link = +35 penalty</a:t>
            </a:r>
            <a:br/>
            <a:r>
              <a:t>• Instant Override: Brand spoofing/toll fraud = CRITICAL</a:t>
            </a:r>
            <a:br/>
            <a:r>
              <a:t>• Calibrated Output: SAFE (0-39) | SUSP (40-69) | CRIT (70-100)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Core Cybersecurity Concepts Implemented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1. Social Engineering &amp; Urgency Exploitation</a:t>
            </a:r>
            <a:br/>
            <a:r>
              <a:t>Attackers exploit fear and artificial urgency to bypass logical evaluation. The NLP engine detects urgency patterns ('action required within 2 hours', 'account suspended') as primary risk indicators.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2. Typosquatting Defense (Levenshtein Distance)</a:t>
            </a:r>
            <a:br/>
            <a:r>
              <a:t>Computes edit distance against known financial &amp; tech brands. Domains like 'paypa1.com' or 'rnicrosoft.com' with single-character replacements trigger high-severity typosquatting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4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3. Zero-Day Threat Interception</a:t>
            </a:r>
            <a:br/>
            <a:r>
              <a:t>Newly created scam domains bypass commercial blacklists. Structural heuristics (raw IP in hostname, excess subdomains, unencrypted HTTP, login paths) intercept malicious links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9768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4. Defense in Depth (Layered Perimeter)</a:t>
            </a:r>
            <a:br/>
            <a:r>
              <a:t>Six independent defensive layers: Client DOM Interception -&gt; API Gateway Limits -&gt; Normalization Sanitization -&gt; NLP Vectorization -&gt; Specialized Rule Engines -&gt; Risk Engine Arbitration.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0352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5. ReDoS &amp; Denial-of-Service Defense</a:t>
            </a:r>
            <a:br/>
            <a:r>
              <a:t>Protects backend CPUs from catastrophic regular expression backtracking attacks by capping inbound request payloads at 256 KB and enforcing bounded, linear-time regex matching.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Complete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60320" cy="210312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Frontend Dashboard</a:t>
            </a:r>
            <a:br/>
            <a:br/>
            <a:r>
              <a:t>React 18.2.0 + Vite 5.0</a:t>
            </a:r>
            <a:br/>
            <a:r>
              <a:t>Tailwind CSS + Lucide Icons</a:t>
            </a:r>
            <a:br/>
            <a:r>
              <a:t>Real-time threat feed &amp; stats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371600"/>
            <a:ext cx="2560320" cy="210312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Backend REST API</a:t>
            </a:r>
            <a:br/>
            <a:br/>
            <a:r>
              <a:t>Python 3.11 + FastAPI</a:t>
            </a:r>
            <a:br/>
            <a:r>
              <a:t>Uvicorn ASGI + Pydantic v2</a:t>
            </a:r>
            <a:br/>
            <a:r>
              <a:t>Sub-15ms inference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371600"/>
            <a:ext cx="2560320" cy="2103120"/>
          </a:xfrm>
          <a:prstGeom prst="roundRect">
            <a:avLst/>
          </a:prstGeom>
          <a:solidFill>
            <a:srgbClr val="581C8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Machine Learning</a:t>
            </a:r>
            <a:br/>
            <a:br/>
            <a:r>
              <a:t>Scikit-Learn 1.5 + Joblib</a:t>
            </a:r>
            <a:br/>
            <a:r>
              <a:t>Sublinear TF-IDF + Logistic Reg</a:t>
            </a:r>
            <a:br/>
            <a:r>
              <a:t>29,113 sample dataset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2560320" cy="210312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Browser Extension</a:t>
            </a:r>
            <a:br/>
            <a:br/>
            <a:r>
              <a:t>Chrome Manifest V3</a:t>
            </a:r>
            <a:br/>
            <a:r>
              <a:t>Background Service Worker</a:t>
            </a:r>
            <a:br/>
            <a:r>
              <a:t>Active DOM text &amp; link scanner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749039"/>
            <a:ext cx="2560320" cy="2103120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Database &amp; Storage</a:t>
            </a:r>
            <a:br/>
            <a:br/>
            <a:r>
              <a:t>MongoDB Atlas 7.0+</a:t>
            </a:r>
            <a:br/>
            <a:r>
              <a:t>PyMongo async connection pool</a:t>
            </a:r>
            <a:br/>
            <a:r>
              <a:t>SHA-256 Zero-PII hashing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49039"/>
            <a:ext cx="256032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Cloud &amp; Deployment</a:t>
            </a:r>
            <a:br/>
            <a:br/>
            <a:r>
              <a:t>Frontend: Vercel (Production)</a:t>
            </a:r>
            <a:br/>
            <a:r>
              <a:t>Backend: Render / Cloudflare</a:t>
            </a:r>
            <a:br/>
            <a:r>
              <a:t>Repository: GitHub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Chrome Extension: Real-Time Browser Protection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93192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200" b="0">
                <a:solidFill>
                  <a:srgbClr val="E2E8F0"/>
                </a:solidFill>
                <a:latin typeface="Arial"/>
              </a:defRPr>
            </a:pPr>
            <a:r>
              <a:t>Manifest V3 Architecture</a:t>
            </a:r>
            <a:br/>
            <a:br/>
            <a:r>
              <a:t>• Non-Blocking Service Worker: Handles asynchronous communication with the central API gateway.</a:t>
            </a:r>
            <a:br/>
            <a:r>
              <a:t>• DOM Content Extraction: Injects lightweight scripting to extract selected text on any webpage.</a:t>
            </a:r>
            <a:br/>
            <a:r>
              <a:t>• Multi-Environment Support: Switches seamlessly between Local Dev (127.0.0.1:8000) and Cloud API.</a:t>
            </a:r>
            <a:br/>
            <a:r>
              <a:t>• Zero Performance Overhead: Does not modify DOM or slow down regular browsing.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3931920" cy="365760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User Workflow &amp; Live Output</a:t>
            </a:r>
            <a:br/>
            <a:br/>
            <a:r>
              <a:t>1. User highlights any suspicious text or link on WhatsApp Web, Gmail, or banking portals.</a:t>
            </a:r>
            <a:br/>
            <a:r>
              <a:t>2. Clicks the Phishing Shield AI extension icon in the Chrome toolbar.</a:t>
            </a:r>
            <a:br/>
            <a:r>
              <a:t>3. Clicks 'Scan' -&gt; Instant verdict is rendered:</a:t>
            </a:r>
            <a:br/>
            <a:r>
              <a:t>   - Threat Score: e.g., 91 / 100</a:t>
            </a:r>
            <a:br/>
            <a:r>
              <a:t>   - Verdict Badge: CRITICAL / HIGH RISK</a:t>
            </a:r>
            <a:br/>
            <a:r>
              <a:t>   - Extracted Entities: Phone numbers &amp; emails</a:t>
            </a:r>
            <a:br/>
            <a:r>
              <a:t>   - Explanations: 'Urgent language + fake KYC link'</a:t>
            </a:r>
            <a:br/>
            <a:r>
              <a:t>   - Recommended Action: 'DO NOT OPEN / BLOCK'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120640"/>
            <a:ext cx="8046720" cy="73152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Deployment Status: Fully compatible with Chrome MV3 standards; installable via 'Load Unpacked' Developer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Security, Privacy &amp; Data Protection (Zero-PII)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Zero-PII Cryptographic Hashing</a:t>
            </a:r>
            <a:br/>
            <a:r>
              <a:t>Raw message texts, emails, and phone numbers are NEVER permanently stored in the database. Only deterministic SHA-256 cryptographic fingerprints are indexed for deduplication and cross-channel threat correlation.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Principle of Least Privilege</a:t>
            </a:r>
            <a:br/>
            <a:r>
              <a:t>The Chrome extension only accesses the actively highlighted text selection. It does not inspect full browsing history, unhighlighted tabs, or stored browser passwords.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4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Strict Payload &amp; ReDoS Limits</a:t>
            </a:r>
            <a:br/>
            <a:r>
              <a:t>The API enforces a 256 KB content-length cap on all inbound payloads via custom ASGI middleware, blocking Denial-of-Service and catastrophic memory exhaustion exploits.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9768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Transport Encryption &amp; Strict CORS</a:t>
            </a:r>
            <a:br/>
            <a:r>
              <a:t>All communication between client edges and API gateways is enforced over HTTPS/TLS with strict CORS domain whitelisting preventing unauthorized cross-origin requests.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03520"/>
            <a:ext cx="804672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50" b="0">
                <a:solidFill>
                  <a:srgbClr val="E2E8F0"/>
                </a:solidFill>
                <a:latin typeface="Arial"/>
              </a:defRPr>
            </a:pPr>
            <a:r>
              <a:t>Automated Threat Deduplication</a:t>
            </a:r>
            <a:br/>
            <a:r>
              <a:t>MongoDB unique indexing on SHA-256 fingerprints automatically increments attack frequency counts rather than creating duplicate redundant database entries.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Results &amp; Live Demonstration Scenarios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45720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Model Metrics:   Accuracy: 96.84%   |   Precision: 95.42%   |   Recall: 97.10%   |   ROC-AUC: 0.9891   |   Inference: &lt;15ms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8046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E2E8F0"/>
                </a:solidFill>
                <a:latin typeface="Arial"/>
              </a:defRPr>
            </a:pPr>
            <a:r>
              <a:t>[NORMAL MESSAGE]</a:t>
            </a:r>
            <a:br/>
            <a:r>
              <a:t>'Hey, are you coming to college tomorrow? Let me know.'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377440" cy="804672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SAFE</a:t>
            </a:r>
            <a:br/>
            <a:r>
              <a:t>Score: 05 / 100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24912"/>
            <a:ext cx="5486400" cy="8046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E2E8F0"/>
                </a:solidFill>
                <a:latin typeface="Arial"/>
              </a:defRPr>
            </a:pPr>
            <a:r>
              <a:t>[VERIFICATION PROMPT]</a:t>
            </a:r>
            <a:br/>
            <a:r>
              <a:t>'Your account needs verification. Click here to confirm details.'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24912"/>
            <a:ext cx="2377440" cy="804672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SUSPICIOUS</a:t>
            </a:r>
            <a:br/>
            <a:r>
              <a:t>Score: 58 /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21024"/>
            <a:ext cx="5486400" cy="8046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E2E8F0"/>
                </a:solidFill>
                <a:latin typeface="Arial"/>
              </a:defRPr>
            </a:pPr>
            <a:r>
              <a:t>[BANK PHISHING LINK]</a:t>
            </a:r>
            <a:br/>
            <a:r>
              <a:t>'URGENT: Bank account suspended! Verify: secure-bank-login.com'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21024"/>
            <a:ext cx="2377440" cy="804672"/>
          </a:xfrm>
          <a:prstGeom prst="roundRect">
            <a:avLst/>
          </a:prstGeom>
          <a:solidFill>
            <a:srgbClr val="991B1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CRITICAL</a:t>
            </a:r>
            <a:br/>
            <a:r>
              <a:t>Score: 92 /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17136"/>
            <a:ext cx="5486400" cy="8046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E2E8F0"/>
                </a:solidFill>
                <a:latin typeface="Arial"/>
              </a:defRPr>
            </a:pPr>
            <a:r>
              <a:t>[ELECTRICITY SMISHING]</a:t>
            </a:r>
            <a:br/>
            <a:r>
              <a:t>'Power will be cut tonight! Call officer 09876543210 immediately.'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517136"/>
            <a:ext cx="2377440" cy="804672"/>
          </a:xfrm>
          <a:prstGeom prst="roundRect">
            <a:avLst/>
          </a:prstGeom>
          <a:solidFill>
            <a:srgbClr val="781E1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CRITICAL</a:t>
            </a:r>
            <a:br/>
            <a:r>
              <a:t>Score: 88 / 100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413248"/>
            <a:ext cx="5486400" cy="8046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100" b="0">
                <a:solidFill>
                  <a:srgbClr val="E2E8F0"/>
                </a:solidFill>
                <a:latin typeface="Arial"/>
              </a:defRPr>
            </a:pPr>
            <a:r>
              <a:t>[SPOOFED SENDER EMAIL]</a:t>
            </a:r>
            <a:br/>
            <a:r>
              <a:t>From 'SBI Security' &lt;sbi.alert@gmail.com&gt; - 'Immediate KYC required'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413248"/>
            <a:ext cx="2377440" cy="804672"/>
          </a:xfrm>
          <a:prstGeom prst="roundRect">
            <a:avLst/>
          </a:prstGeom>
          <a:solidFill>
            <a:srgbClr val="581C8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CRITICAL</a:t>
            </a:r>
            <a:br/>
            <a:r>
              <a:t>Score: 85 / 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PHISHING SHIELD AI  |  3RD YEAR - 1ST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Conclusion &amp; Project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931920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200" b="0">
                <a:solidFill>
                  <a:srgbClr val="E2E8F0"/>
                </a:solidFill>
                <a:latin typeface="Arial"/>
              </a:defRPr>
            </a:pPr>
            <a:r>
              <a:t>Key Achievements &amp; Summary</a:t>
            </a:r>
            <a:br/>
            <a:br/>
            <a:r>
              <a:t>• Comprehensive Defense: Built an operational end-to-end phishing protection system protecting users across Web, Email, and SMS vectors.</a:t>
            </a:r>
            <a:br/>
            <a:br/>
            <a:r>
              <a:t>• High-Speed Explainability: Delivered sub-15ms AI inference with transparent threat explanations, eliminating black-box distrust.</a:t>
            </a:r>
            <a:br/>
            <a:br/>
            <a:r>
              <a:t>• Practical Security Engineering: Implemented Zero-PII SHA-256 data storage, ReDoS mitigation, and Levenshtein typosquatting defense.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3931920" cy="3840480"/>
          </a:xfrm>
          <a:prstGeom prst="roundRect">
            <a:avLst/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Live Deliverables &amp; Links</a:t>
            </a:r>
            <a:br/>
            <a:br/>
            <a:r>
              <a:t>🌐 Live Web App:</a:t>
            </a:r>
            <a:br/>
            <a:r>
              <a:t>https://phishing-shield-ai-web.vercel.app</a:t>
            </a:r>
            <a:br/>
            <a:br/>
            <a:r>
              <a:t>💻 GitHub Repository:</a:t>
            </a:r>
            <a:br/>
            <a:r>
              <a:t>https://github.com/RamNarayan0/phishing-shield-ai</a:t>
            </a:r>
            <a:br/>
            <a:br/>
            <a:r>
              <a:t>🧩 Chrome Extension:</a:t>
            </a:r>
            <a:br/>
            <a:r>
              <a:t>Manifest V3 (Installed on Chrome)</a:t>
            </a:r>
            <a:br/>
            <a:br/>
            <a:r>
              <a:t>📄 Technical Documentation:</a:t>
            </a:r>
            <a:br/>
            <a:r>
              <a:t>4-Page PDF on Desktop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303520"/>
            <a:ext cx="8046720" cy="82296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Thank you! Open for Questions &amp; Demonstration.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</a:defRPr>
            </a:pPr>
            <a:r>
              <a:t>Batch 3B2  |  Department of Computer Science &amp; Engineering  | 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